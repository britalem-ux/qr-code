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3" r:id="rId1"/>
  </p:sldMasterIdLst>
  <p:sldIdLst>
    <p:sldId id="257" r:id="rId2"/>
    <p:sldId id="261" r:id="rId3"/>
    <p:sldId id="258" r:id="rId4"/>
    <p:sldId id="259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2" r:id="rId14"/>
    <p:sldId id="271" r:id="rId15"/>
    <p:sldId id="270" r:id="rId16"/>
    <p:sldId id="273" r:id="rId17"/>
    <p:sldId id="274" r:id="rId18"/>
    <p:sldId id="275" r:id="rId19"/>
    <p:sldId id="276" r:id="rId20"/>
    <p:sldId id="2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9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74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9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28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7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6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3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40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5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1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6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06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late.net/graphic-design/videos/" TargetMode="External"/><Relationship Id="rId2" Type="http://schemas.openxmlformats.org/officeDocument/2006/relationships/hyperlink" Target="https://www.theknowledgeacademy.com/blog/digital-communic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chtarget.com/whatis/definition/social-networking" TargetMode="External"/><Relationship Id="rId5" Type="http://schemas.openxmlformats.org/officeDocument/2006/relationships/hyperlink" Target="https://www.techtarget.com/contributor/Katie-Terrell-Hanna" TargetMode="External"/><Relationship Id="rId4" Type="http://schemas.openxmlformats.org/officeDocument/2006/relationships/hyperlink" Target="https://www.launchnotes.com/glossary/issue-tracking-in-product-management-and-oper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242886"/>
            <a:ext cx="8220075" cy="54054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15376" y="1800225"/>
            <a:ext cx="2971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Algerian" panose="04020705040A02060702" pitchFamily="82" charset="0"/>
              </a:rPr>
              <a:t>“</a:t>
            </a:r>
            <a:r>
              <a:rPr lang="en-US" sz="2800" b="1" i="1" dirty="0" smtClean="0">
                <a:latin typeface="Algerian" panose="04020705040A02060702" pitchFamily="82" charset="0"/>
              </a:rPr>
              <a:t>Enhancing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Workplace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Communication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Using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Digital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Communication </a:t>
            </a:r>
          </a:p>
          <a:p>
            <a:r>
              <a:rPr lang="en-US" sz="2800" b="1" i="1" dirty="0" smtClean="0">
                <a:latin typeface="Algerian" panose="04020705040A02060702" pitchFamily="82" charset="0"/>
              </a:rPr>
              <a:t>Tools”</a:t>
            </a:r>
            <a:endParaRPr lang="en-JM" sz="2800" b="1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227" y="5781675"/>
            <a:ext cx="8115298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JM" sz="4800" dirty="0" smtClean="0">
                <a:latin typeface="Algerian" panose="04020705040A02060702" pitchFamily="82" charset="0"/>
              </a:rPr>
              <a:t>FutureTech Solution LTD </a:t>
            </a:r>
          </a:p>
        </p:txBody>
      </p:sp>
    </p:spTree>
    <p:extLst>
      <p:ext uri="{BB962C8B-B14F-4D97-AF65-F5344CB8AC3E}">
        <p14:creationId xmlns:p14="http://schemas.microsoft.com/office/powerpoint/2010/main" val="407525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454" y="286603"/>
            <a:ext cx="11484244" cy="1450757"/>
          </a:xfrm>
        </p:spPr>
        <p:txBody>
          <a:bodyPr/>
          <a:lstStyle/>
          <a:p>
            <a:r>
              <a:rPr lang="en-JM" b="1" dirty="0" smtClean="0">
                <a:latin typeface="Algerian" panose="04020705040A02060702" pitchFamily="82" charset="0"/>
              </a:rPr>
              <a:t>What Is Digital Communication? </a:t>
            </a:r>
            <a:endParaRPr lang="en-JM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42" y="1845734"/>
            <a:ext cx="11158780" cy="4023360"/>
          </a:xfrm>
        </p:spPr>
        <p:txBody>
          <a:bodyPr>
            <a:normAutofit/>
          </a:bodyPr>
          <a:lstStyle/>
          <a:p>
            <a:r>
              <a:rPr lang="en-US" sz="3600" dirty="0"/>
              <a:t> </a:t>
            </a:r>
            <a:r>
              <a:rPr lang="en-US" sz="3600" dirty="0" smtClean="0"/>
              <a:t>This is the </a:t>
            </a:r>
            <a:r>
              <a:rPr lang="en-US" sz="3600" dirty="0"/>
              <a:t>procedure of exchanging information, messages, and ideas via digital technologies and platforms. It involves the transmission and reception of data through electronic devices and networks. Digital Communication enables real-time interaction, instant messaging, video conferencing, and sharing of multimedia content across vast distances.</a:t>
            </a:r>
            <a:endParaRPr lang="en-JM" sz="3600" dirty="0"/>
          </a:p>
        </p:txBody>
      </p:sp>
    </p:spTree>
    <p:extLst>
      <p:ext uri="{BB962C8B-B14F-4D97-AF65-F5344CB8AC3E}">
        <p14:creationId xmlns:p14="http://schemas.microsoft.com/office/powerpoint/2010/main" val="177985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2809" y="388188"/>
            <a:ext cx="1009290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PURPOSE</a:t>
            </a:r>
          </a:p>
          <a:p>
            <a:pPr algn="ctr"/>
            <a:r>
              <a:rPr lang="en-US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</a:t>
            </a:r>
          </a:p>
          <a:p>
            <a:pPr algn="ctr"/>
            <a:r>
              <a:rPr lang="en-US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DIGITAL </a:t>
            </a:r>
          </a:p>
          <a:p>
            <a:pPr algn="ctr"/>
            <a:r>
              <a:rPr lang="en-US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COMMUNICATION TOOLS</a:t>
            </a:r>
            <a:endParaRPr lang="en-US" sz="72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801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118" y="179294"/>
            <a:ext cx="6239435" cy="5690435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File sharing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Collaboration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Customer engagement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Accessibility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Better engagement of workers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Comfortable and convenient experience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Universally acceptable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Transparency with the organisation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Save time, energy and money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/>
              <a:t>Global </a:t>
            </a:r>
            <a:r>
              <a:rPr lang="en-JM" sz="9600" dirty="0" smtClean="0"/>
              <a:t>Reach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Integration with other technologies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Personalisation and customisation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9600" dirty="0" smtClean="0"/>
              <a:t>Data preservation and archiving </a:t>
            </a:r>
          </a:p>
          <a:p>
            <a:pPr>
              <a:buFont typeface="Wingdings" panose="05000000000000000000" pitchFamily="2" charset="2"/>
              <a:buChar char="Ø"/>
            </a:pPr>
            <a:endParaRPr lang="en-JM" dirty="0"/>
          </a:p>
          <a:p>
            <a:r>
              <a:rPr lang="en-JM" dirty="0"/>
              <a:t/>
            </a:r>
            <a:br>
              <a:rPr lang="en-JM" dirty="0"/>
            </a:br>
            <a:endParaRPr lang="en-JM" dirty="0" smtClean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59" y="62753"/>
            <a:ext cx="5522259" cy="5806341"/>
          </a:xfrm>
        </p:spPr>
      </p:pic>
    </p:spTree>
    <p:extLst>
      <p:ext uri="{BB962C8B-B14F-4D97-AF65-F5344CB8AC3E}">
        <p14:creationId xmlns:p14="http://schemas.microsoft.com/office/powerpoint/2010/main" val="209176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JM" b="1" dirty="0" smtClean="0"/>
              <a:t>Social Network/ Networking</a:t>
            </a:r>
            <a:endParaRPr lang="en-JM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0" y="1846052"/>
            <a:ext cx="6035040" cy="426147"/>
          </a:xfrm>
        </p:spPr>
        <p:txBody>
          <a:bodyPr>
            <a:noAutofit/>
          </a:bodyPr>
          <a:lstStyle/>
          <a:p>
            <a:pPr algn="ctr"/>
            <a:r>
              <a:rPr lang="en-JM" sz="2800" dirty="0" smtClean="0"/>
              <a:t>Definitions </a:t>
            </a:r>
            <a:endParaRPr lang="en-JM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96" y="2380891"/>
            <a:ext cx="5736566" cy="397677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Social Networks are defined as websites and apps that allows user and organizations to connect, communicate, share information and form relationships. </a:t>
            </a:r>
            <a:endParaRPr lang="en-JM"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865962" y="1846052"/>
            <a:ext cx="5289718" cy="426147"/>
          </a:xfrm>
        </p:spPr>
        <p:txBody>
          <a:bodyPr>
            <a:noAutofit/>
          </a:bodyPr>
          <a:lstStyle/>
          <a:p>
            <a:pPr algn="ctr"/>
            <a:r>
              <a:rPr lang="en-JM" sz="3200" dirty="0" smtClean="0"/>
              <a:t>Purposes</a:t>
            </a:r>
            <a:endParaRPr lang="en-JM" sz="32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865962" y="2272199"/>
            <a:ext cx="6326037" cy="408546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Sharing: Allows geographically dispersed friends and families to stay connected by sharing updated, photos and videos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Learning: Users can receive real-time news, explore trending topics and keep up with community developments </a:t>
            </a:r>
          </a:p>
          <a:p>
            <a:pPr>
              <a:buFont typeface="Wingdings" panose="05000000000000000000" pitchFamily="2" charset="2"/>
              <a:buChar char="Ø"/>
            </a:pPr>
            <a:endParaRPr lang="en-JM" sz="2400" dirty="0" smtClean="0"/>
          </a:p>
        </p:txBody>
      </p:sp>
    </p:spTree>
    <p:extLst>
      <p:ext uri="{BB962C8B-B14F-4D97-AF65-F5344CB8AC3E}">
        <p14:creationId xmlns:p14="http://schemas.microsoft.com/office/powerpoint/2010/main" val="380657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035" y="286603"/>
            <a:ext cx="11533516" cy="1450757"/>
          </a:xfrm>
        </p:spPr>
        <p:txBody>
          <a:bodyPr/>
          <a:lstStyle/>
          <a:p>
            <a:pPr algn="ctr"/>
            <a:r>
              <a:rPr lang="en-JM" b="1" dirty="0"/>
              <a:t/>
            </a:r>
            <a:br>
              <a:rPr lang="en-JM" b="1" dirty="0"/>
            </a:br>
            <a:r>
              <a:rPr lang="en-JM" b="1" dirty="0"/>
              <a:t>Social </a:t>
            </a:r>
            <a:r>
              <a:rPr lang="en-JM" b="1" dirty="0" smtClean="0"/>
              <a:t>Networking </a:t>
            </a:r>
            <a:r>
              <a:rPr lang="en-JM" b="1" dirty="0" err="1" smtClean="0"/>
              <a:t>Con’t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3600" b="1" dirty="0" smtClean="0"/>
              <a:t>Definition </a:t>
            </a:r>
            <a:r>
              <a:rPr lang="en-JM" sz="3600" b="1" dirty="0" err="1" smtClean="0"/>
              <a:t>Con’t</a:t>
            </a:r>
            <a:endParaRPr lang="en-JM" sz="36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Social networking refers to forming connections in person or online. Social networking sites let people connect with others across the globe whom they might never have met in person.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Eg</a:t>
            </a:r>
            <a:r>
              <a:rPr lang="en-US" sz="2800" dirty="0"/>
              <a:t>: Facebook, X, </a:t>
            </a:r>
            <a:r>
              <a:rPr lang="en-US" sz="2800" dirty="0" err="1"/>
              <a:t>Whatsapp</a:t>
            </a:r>
            <a:r>
              <a:rPr lang="en-US" sz="2800" dirty="0"/>
              <a:t>, </a:t>
            </a:r>
            <a:r>
              <a:rPr lang="en-US" sz="2800" dirty="0" err="1"/>
              <a:t>Tiktok</a:t>
            </a:r>
            <a:r>
              <a:rPr lang="en-US" sz="2800" dirty="0"/>
              <a:t>, </a:t>
            </a:r>
            <a:r>
              <a:rPr lang="en-US" sz="2800" dirty="0" err="1"/>
              <a:t>Facetime</a:t>
            </a:r>
            <a:endParaRPr lang="en-JM" sz="2800" dirty="0"/>
          </a:p>
          <a:p>
            <a:endParaRPr lang="en-JM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3600" b="1" dirty="0" smtClean="0"/>
              <a:t>Purpose </a:t>
            </a:r>
            <a:r>
              <a:rPr lang="en-JM" sz="3600" b="1" dirty="0" err="1" smtClean="0"/>
              <a:t>Cont</a:t>
            </a:r>
            <a:endParaRPr lang="en-JM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5798676" cy="368907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2800" dirty="0"/>
              <a:t>Interacting: online platforms break time and distance barriers through real-time communication via text, audio or video chat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/>
              <a:t>Marketing: Business use social networks to build brand awareness, retain customers and promote products or service.</a:t>
            </a:r>
          </a:p>
        </p:txBody>
      </p:sp>
    </p:spTree>
    <p:extLst>
      <p:ext uri="{BB962C8B-B14F-4D97-AF65-F5344CB8AC3E}">
        <p14:creationId xmlns:p14="http://schemas.microsoft.com/office/powerpoint/2010/main" val="227207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M" b="1" dirty="0"/>
              <a:t/>
            </a:r>
            <a:br>
              <a:rPr lang="en-JM" b="1" dirty="0"/>
            </a:br>
            <a:r>
              <a:rPr lang="en-JM" b="1" dirty="0"/>
              <a:t>Social Networking </a:t>
            </a:r>
            <a:r>
              <a:rPr lang="en-JM" b="1" dirty="0" err="1"/>
              <a:t>Con’t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JM" sz="3200" b="1" dirty="0" smtClean="0"/>
              <a:t>Advantages</a:t>
            </a:r>
            <a:endParaRPr lang="en-JM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Brand awareness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Global reach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Audience development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More website traffic </a:t>
            </a:r>
            <a:endParaRPr lang="en-JM" sz="3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3200" b="1" dirty="0" smtClean="0"/>
              <a:t>Disadvantages</a:t>
            </a:r>
            <a:endParaRPr lang="en-JM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Misinformation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Impact of negative reviews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Data privacy and security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3200" dirty="0" smtClean="0"/>
              <a:t>Burdensome time requirements </a:t>
            </a:r>
            <a:endParaRPr lang="en-JM" sz="3200" dirty="0"/>
          </a:p>
        </p:txBody>
      </p:sp>
    </p:spTree>
    <p:extLst>
      <p:ext uri="{BB962C8B-B14F-4D97-AF65-F5344CB8AC3E}">
        <p14:creationId xmlns:p14="http://schemas.microsoft.com/office/powerpoint/2010/main" val="312547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M" b="1" dirty="0"/>
              <a:t>Use Of Tools In The </a:t>
            </a:r>
            <a:r>
              <a:rPr lang="en-JM" b="1" dirty="0" smtClean="0"/>
              <a:t>Organisation </a:t>
            </a:r>
            <a:r>
              <a:rPr lang="en-JM" b="1" dirty="0"/>
              <a:t/>
            </a:r>
            <a:br>
              <a:rPr lang="en-JM" b="1" dirty="0"/>
            </a:br>
            <a:r>
              <a:rPr lang="en-JM" b="1" dirty="0"/>
              <a:t>Social Networking</a:t>
            </a:r>
            <a:endParaRPr lang="en-JM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JM" sz="2800" b="1" dirty="0" smtClean="0"/>
              <a:t>Internal Collaboration Platforms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Employees share updates, files and announcement in real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Teams can create dedicated channels for projects, departments or topics  </a:t>
            </a:r>
          </a:p>
          <a:p>
            <a:pPr algn="just"/>
            <a:endParaRPr lang="en-JM" sz="2400" dirty="0" smtClean="0"/>
          </a:p>
          <a:p>
            <a:endParaRPr lang="en-JM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2800" b="1" dirty="0" smtClean="0"/>
              <a:t>Professional Networking sites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Used for recruitment, professional branding and connecting with industry peers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Help organisations showcase culture and achievement </a:t>
            </a:r>
          </a:p>
          <a:p>
            <a:pPr>
              <a:buFont typeface="Wingdings" panose="05000000000000000000" pitchFamily="2" charset="2"/>
              <a:buChar char="Ø"/>
            </a:pPr>
            <a:endParaRPr lang="en-JM" sz="2400" dirty="0"/>
          </a:p>
        </p:txBody>
      </p:sp>
    </p:spTree>
    <p:extLst>
      <p:ext uri="{BB962C8B-B14F-4D97-AF65-F5344CB8AC3E}">
        <p14:creationId xmlns:p14="http://schemas.microsoft.com/office/powerpoint/2010/main" val="229127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M" b="1" dirty="0"/>
              <a:t>Use Of Tools In The Organisation </a:t>
            </a:r>
            <a:br>
              <a:rPr lang="en-JM" b="1" dirty="0"/>
            </a:br>
            <a:r>
              <a:rPr lang="en-JM" b="1" dirty="0"/>
              <a:t>Social Networking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942" y="1845734"/>
            <a:ext cx="10628738" cy="4023360"/>
          </a:xfrm>
        </p:spPr>
        <p:txBody>
          <a:bodyPr>
            <a:normAutofit/>
          </a:bodyPr>
          <a:lstStyle/>
          <a:p>
            <a:pPr algn="ctr"/>
            <a:r>
              <a:rPr lang="en-JM" sz="2800" b="1" dirty="0" smtClean="0"/>
              <a:t>Social Media Platforms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Companies engage with customers, promote services and gather feedbacks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Internal groups foster community and employees engagement </a:t>
            </a:r>
            <a:endParaRPr lang="en-JM" sz="2400" dirty="0"/>
          </a:p>
        </p:txBody>
      </p:sp>
    </p:spTree>
    <p:extLst>
      <p:ext uri="{BB962C8B-B14F-4D97-AF65-F5344CB8AC3E}">
        <p14:creationId xmlns:p14="http://schemas.microsoft.com/office/powerpoint/2010/main" val="46199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457" y="286603"/>
            <a:ext cx="11561735" cy="1450757"/>
          </a:xfrm>
        </p:spPr>
        <p:txBody>
          <a:bodyPr/>
          <a:lstStyle/>
          <a:p>
            <a:pPr algn="just"/>
            <a:r>
              <a:rPr lang="en-JM" b="1" dirty="0" smtClean="0"/>
              <a:t>How Social Networking Improve Workplace</a:t>
            </a:r>
            <a:endParaRPr lang="en-JM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943171"/>
              </p:ext>
            </p:extLst>
          </p:nvPr>
        </p:nvGraphicFramePr>
        <p:xfrm>
          <a:off x="557938" y="1937288"/>
          <a:ext cx="11313765" cy="4138048"/>
        </p:xfrm>
        <a:graphic>
          <a:graphicData uri="http://schemas.openxmlformats.org/drawingml/2006/table">
            <a:tbl>
              <a:tblPr/>
              <a:tblGrid>
                <a:gridCol w="3771255"/>
                <a:gridCol w="3771255"/>
                <a:gridCol w="3771255"/>
              </a:tblGrid>
              <a:tr h="486829">
                <a:tc>
                  <a:txBody>
                    <a:bodyPr/>
                    <a:lstStyle/>
                    <a:p>
                      <a:r>
                        <a:rPr lang="en-JM"/>
                        <a:t>Tool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/>
                        <a:t>Communication 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17073">
                <a:tc>
                  <a:txBody>
                    <a:bodyPr/>
                    <a:lstStyle/>
                    <a:p>
                      <a:r>
                        <a:rPr lang="en-JM" b="1"/>
                        <a:t>Internal Platforms</a:t>
                      </a:r>
                      <a:endParaRPr lang="en-J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collaboration, reduced email overload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project team uses Slack channels to coordinate tasks instantly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17073">
                <a:tc>
                  <a:txBody>
                    <a:bodyPr/>
                    <a:lstStyle/>
                    <a:p>
                      <a:r>
                        <a:rPr lang="en-JM" b="1"/>
                        <a:t>Professional Networking</a:t>
                      </a:r>
                      <a:endParaRPr lang="en-J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Builds external connections, supports knowledge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 posts job openings on LinkedIn and connects with candidates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17073">
                <a:tc>
                  <a:txBody>
                    <a:bodyPr/>
                    <a:lstStyle/>
                    <a:p>
                      <a:r>
                        <a:rPr lang="en-JM" b="1"/>
                        <a:t>Social Media</a:t>
                      </a:r>
                      <a:endParaRPr lang="en-J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/>
                        <a:t>Enhances transparency, strengthens brand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 team shares updates on </a:t>
                      </a:r>
                      <a:r>
                        <a:rPr lang="en-US" dirty="0" err="1"/>
                        <a:t>Instagram</a:t>
                      </a:r>
                      <a:r>
                        <a:rPr lang="en-US" dirty="0"/>
                        <a:t> to engage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34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81" y="155275"/>
            <a:ext cx="3467819" cy="1466491"/>
          </a:xfrm>
        </p:spPr>
        <p:txBody>
          <a:bodyPr/>
          <a:lstStyle/>
          <a:p>
            <a:r>
              <a:rPr lang="en-JM" dirty="0" smtClean="0"/>
              <a:t>Issue Tracking Software </a:t>
            </a:r>
            <a:endParaRPr lang="en-JM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40964"/>
            <a:ext cx="7257081" cy="612183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891" y="1932317"/>
            <a:ext cx="3907766" cy="4848045"/>
          </a:xfrm>
        </p:spPr>
        <p:txBody>
          <a:bodyPr>
            <a:noAutofit/>
          </a:bodyPr>
          <a:lstStyle/>
          <a:p>
            <a:r>
              <a:rPr lang="en-JM" sz="2400" dirty="0" smtClean="0"/>
              <a:t>This is a digital tool that helps organisations records, assign, monitor and resolve problems, tasks or request in a structured ways ensuring accountability, transparency, and faster communication across teams. </a:t>
            </a:r>
            <a:endParaRPr lang="en-JM" sz="2400" dirty="0"/>
          </a:p>
          <a:p>
            <a:r>
              <a:rPr lang="en-JM" sz="2400" dirty="0" smtClean="0"/>
              <a:t>Mostly used in IT, customer support and project management to streamline workflows and prevent issues from being overlooked.</a:t>
            </a:r>
            <a:endParaRPr lang="en-JM" sz="2400" dirty="0"/>
          </a:p>
        </p:txBody>
      </p:sp>
    </p:spTree>
    <p:extLst>
      <p:ext uri="{BB962C8B-B14F-4D97-AF65-F5344CB8AC3E}">
        <p14:creationId xmlns:p14="http://schemas.microsoft.com/office/powerpoint/2010/main" val="237321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b="1" dirty="0" smtClean="0"/>
              <a:t>Use Of Issue Tracking Software In the Workplace </a:t>
            </a:r>
            <a:endParaRPr lang="en-JM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16976" y="1846052"/>
            <a:ext cx="5818064" cy="736282"/>
          </a:xfrm>
        </p:spPr>
        <p:txBody>
          <a:bodyPr/>
          <a:lstStyle/>
          <a:p>
            <a:pPr algn="ctr"/>
            <a:r>
              <a:rPr lang="en-JM" b="1" dirty="0" smtClean="0"/>
              <a:t>Task Assignment and Monitoring </a:t>
            </a:r>
            <a:endParaRPr lang="en-JM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216976" y="2582334"/>
            <a:ext cx="5818064" cy="3378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JM" dirty="0" smtClean="0"/>
              <a:t>Managers assign tasks or tickets to employees with deadlines and priority levels </a:t>
            </a:r>
          </a:p>
          <a:p>
            <a:endParaRPr lang="en-JM" dirty="0"/>
          </a:p>
          <a:p>
            <a:r>
              <a:rPr lang="en-JM" dirty="0" smtClean="0"/>
              <a:t>Such as a bug in the software system is logged in </a:t>
            </a:r>
            <a:r>
              <a:rPr lang="en-JM" dirty="0" err="1" smtClean="0"/>
              <a:t>Jira</a:t>
            </a:r>
            <a:r>
              <a:rPr lang="en-JM" dirty="0" smtClean="0"/>
              <a:t> assigned to a developer and tracked until resolved </a:t>
            </a:r>
            <a:endParaRPr lang="en-JM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JM" b="1" dirty="0" smtClean="0"/>
              <a:t>Centralized Record keeping</a:t>
            </a:r>
            <a:endParaRPr lang="en-JM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JM" dirty="0" smtClean="0"/>
              <a:t>All issues, updates and resolutions are stored in one system </a:t>
            </a:r>
          </a:p>
          <a:p>
            <a:endParaRPr lang="en-JM" dirty="0"/>
          </a:p>
          <a:p>
            <a:r>
              <a:rPr lang="en-JM" dirty="0" smtClean="0"/>
              <a:t>Such as service desk or </a:t>
            </a:r>
            <a:r>
              <a:rPr lang="en-JM" dirty="0" err="1" smtClean="0"/>
              <a:t>zendesk</a:t>
            </a:r>
            <a:r>
              <a:rPr lang="en-JM" dirty="0" smtClean="0"/>
              <a:t> keeps a history of customer complaints and how they were resolved </a:t>
            </a:r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222631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603"/>
            <a:ext cx="11887200" cy="1450757"/>
          </a:xfrm>
        </p:spPr>
        <p:txBody>
          <a:bodyPr/>
          <a:lstStyle/>
          <a:p>
            <a:r>
              <a:rPr lang="en-JM" b="1" dirty="0"/>
              <a:t>Use Of Issue Tracking Software In the Workplace </a:t>
            </a:r>
            <a:r>
              <a:rPr lang="en-JM" b="1" dirty="0" err="1" smtClean="0"/>
              <a:t>Con’t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5734"/>
            <a:ext cx="11155680" cy="4023360"/>
          </a:xfrm>
        </p:spPr>
        <p:txBody>
          <a:bodyPr/>
          <a:lstStyle/>
          <a:p>
            <a:r>
              <a:rPr lang="en-JM" sz="2800" b="1" dirty="0" smtClean="0"/>
              <a:t>Workflow Automation </a:t>
            </a:r>
          </a:p>
          <a:p>
            <a:r>
              <a:rPr lang="en-JM" sz="3200" dirty="0" smtClean="0"/>
              <a:t>Issues move through stages : Open - In Progress- Resolved- Closed  </a:t>
            </a:r>
          </a:p>
          <a:p>
            <a:endParaRPr lang="en-JM" sz="3200" dirty="0"/>
          </a:p>
          <a:p>
            <a:r>
              <a:rPr lang="en-JM" sz="3200" dirty="0" smtClean="0"/>
              <a:t>For Example: </a:t>
            </a:r>
            <a:r>
              <a:rPr lang="en-JM" sz="3200" dirty="0" err="1" smtClean="0"/>
              <a:t>Trello</a:t>
            </a:r>
            <a:r>
              <a:rPr lang="en-JM" sz="3200" dirty="0" smtClean="0"/>
              <a:t> or Asana uses boards and cards to visualise progress</a:t>
            </a:r>
          </a:p>
        </p:txBody>
      </p:sp>
    </p:spTree>
    <p:extLst>
      <p:ext uri="{BB962C8B-B14F-4D97-AF65-F5344CB8AC3E}">
        <p14:creationId xmlns:p14="http://schemas.microsoft.com/office/powerpoint/2010/main" val="198483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76" y="286603"/>
            <a:ext cx="11856204" cy="1450757"/>
          </a:xfrm>
        </p:spPr>
        <p:txBody>
          <a:bodyPr/>
          <a:lstStyle/>
          <a:p>
            <a:r>
              <a:rPr lang="en-JM" b="1" dirty="0" smtClean="0"/>
              <a:t>Improves Tracking Software Improves Workplace Communication  </a:t>
            </a:r>
            <a:endParaRPr lang="en-JM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229424"/>
              </p:ext>
            </p:extLst>
          </p:nvPr>
        </p:nvGraphicFramePr>
        <p:xfrm>
          <a:off x="247974" y="1846263"/>
          <a:ext cx="11716719" cy="4244572"/>
        </p:xfrm>
        <a:graphic>
          <a:graphicData uri="http://schemas.openxmlformats.org/drawingml/2006/table">
            <a:tbl>
              <a:tblPr/>
              <a:tblGrid>
                <a:gridCol w="3905573"/>
                <a:gridCol w="3905573"/>
                <a:gridCol w="3905573"/>
              </a:tblGrid>
              <a:tr h="353714">
                <a:tc>
                  <a:txBody>
                    <a:bodyPr/>
                    <a:lstStyle/>
                    <a:p>
                      <a:r>
                        <a:rPr lang="en-JM" sz="1600" dirty="0"/>
                        <a:t>Feature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600"/>
                        <a:t>Communication Benefit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600"/>
                        <a:t>Example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84286">
                <a:tc>
                  <a:txBody>
                    <a:bodyPr/>
                    <a:lstStyle/>
                    <a:p>
                      <a:r>
                        <a:rPr lang="en-JM" sz="1600" b="1"/>
                        <a:t>Transparency</a:t>
                      </a:r>
                      <a:endParaRPr lang="en-JM" sz="1600"/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Everyone sees the status of tasks/issues, reducing confusion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 team dashboard shows which bugs are pending and who is responsible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9000">
                <a:tc>
                  <a:txBody>
                    <a:bodyPr/>
                    <a:lstStyle/>
                    <a:p>
                      <a:r>
                        <a:rPr lang="en-JM" sz="1600" b="1"/>
                        <a:t>Accountability</a:t>
                      </a:r>
                      <a:endParaRPr lang="en-JM" sz="1600"/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Clear ownership of tasks improves responsibility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Each ticket is assigned to a specific employee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84286">
                <a:tc>
                  <a:txBody>
                    <a:bodyPr/>
                    <a:lstStyle/>
                    <a:p>
                      <a:r>
                        <a:rPr lang="en-JM" sz="1600" b="1"/>
                        <a:t>Collaboration</a:t>
                      </a:r>
                      <a:endParaRPr lang="en-JM" sz="1600"/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Comments, attachments, and updates keep all stakeholders informed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Developers and testers discuss fixes directly in Jira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9000">
                <a:tc>
                  <a:txBody>
                    <a:bodyPr/>
                    <a:lstStyle/>
                    <a:p>
                      <a:r>
                        <a:rPr lang="en-JM" sz="1600" b="1"/>
                        <a:t>Efficiency</a:t>
                      </a:r>
                      <a:endParaRPr lang="en-JM" sz="1600"/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Reduces repetitive emails and meetings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Updates are logged in the system instead of scattered across emails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84286">
                <a:tc>
                  <a:txBody>
                    <a:bodyPr/>
                    <a:lstStyle/>
                    <a:p>
                      <a:r>
                        <a:rPr lang="en-JM" sz="1600" b="1"/>
                        <a:t>Customer Communication</a:t>
                      </a:r>
                      <a:endParaRPr lang="en-JM" sz="1600"/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structured responses and tracking for clients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Zendesk</a:t>
                      </a:r>
                      <a:r>
                        <a:rPr lang="en-US" sz="1600" dirty="0"/>
                        <a:t> automatically updates customers when their issue status changes</a:t>
                      </a:r>
                    </a:p>
                  </a:txBody>
                  <a:tcPr marL="83807" marR="83807" marT="41903" marB="41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1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81" y="286604"/>
            <a:ext cx="11856203" cy="1061750"/>
          </a:xfrm>
        </p:spPr>
        <p:txBody>
          <a:bodyPr/>
          <a:lstStyle/>
          <a:p>
            <a:pPr algn="ctr"/>
            <a:r>
              <a:rPr lang="en-JM" b="1" dirty="0" smtClean="0"/>
              <a:t>Popular Issue Tracking Tools </a:t>
            </a:r>
            <a:endParaRPr lang="en-JM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088879"/>
              </p:ext>
            </p:extLst>
          </p:nvPr>
        </p:nvGraphicFramePr>
        <p:xfrm>
          <a:off x="170482" y="1348355"/>
          <a:ext cx="11856201" cy="4523703"/>
        </p:xfrm>
        <a:graphic>
          <a:graphicData uri="http://schemas.openxmlformats.org/drawingml/2006/table">
            <a:tbl>
              <a:tblPr/>
              <a:tblGrid>
                <a:gridCol w="3952067"/>
                <a:gridCol w="3952067"/>
                <a:gridCol w="3952067"/>
              </a:tblGrid>
              <a:tr h="404687">
                <a:tc>
                  <a:txBody>
                    <a:bodyPr/>
                    <a:lstStyle/>
                    <a:p>
                      <a:r>
                        <a:rPr lang="en-JM" sz="1800" dirty="0"/>
                        <a:t>Tool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Best For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Key Features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4643">
                <a:tc>
                  <a:txBody>
                    <a:bodyPr/>
                    <a:lstStyle/>
                    <a:p>
                      <a:r>
                        <a:rPr lang="en-JM" sz="1800" b="1"/>
                        <a:t>Jira Software</a:t>
                      </a:r>
                      <a:endParaRPr lang="en-JM" sz="1800"/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 dirty="0"/>
                        <a:t>Agile software development teams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Custom workflows, sprint planning, bug tracking, integrations with DevOps tools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9910">
                <a:tc>
                  <a:txBody>
                    <a:bodyPr/>
                    <a:lstStyle/>
                    <a:p>
                      <a:r>
                        <a:rPr lang="en-JM" sz="1800" b="1"/>
                        <a:t>Linear</a:t>
                      </a:r>
                      <a:endParaRPr lang="en-JM" sz="1800"/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Fast-paced product teams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GitHub-style views, quick triage, automation, developer-friendly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9910">
                <a:tc>
                  <a:txBody>
                    <a:bodyPr/>
                    <a:lstStyle/>
                    <a:p>
                      <a:r>
                        <a:rPr lang="en-JM" sz="1800" b="1"/>
                        <a:t>monday.com</a:t>
                      </a:r>
                      <a:endParaRPr lang="en-JM" sz="1800"/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General project &amp; issue tracking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Customizable boards, automation, SLA-style workflows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9910">
                <a:tc>
                  <a:txBody>
                    <a:bodyPr/>
                    <a:lstStyle/>
                    <a:p>
                      <a:r>
                        <a:rPr lang="en-JM" sz="1800" b="1"/>
                        <a:t>GitHub Issues</a:t>
                      </a:r>
                      <a:endParaRPr lang="en-JM" sz="1800"/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Software repositories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Labels, milestones, assignees, automation via GitHub Actions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4643">
                <a:tc>
                  <a:txBody>
                    <a:bodyPr/>
                    <a:lstStyle/>
                    <a:p>
                      <a:r>
                        <a:rPr lang="en-JM" sz="1800" b="1"/>
                        <a:t>ClickUp / Asana</a:t>
                      </a:r>
                      <a:endParaRPr lang="en-JM" sz="1800"/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1800"/>
                        <a:t>All-in-one work management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Task tracking, dashboards, automations, customer request intake</a:t>
                      </a:r>
                    </a:p>
                  </a:txBody>
                  <a:tcPr marL="89394" marR="89394" marT="44697" marB="44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14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8792"/>
            <a:ext cx="3200400" cy="996572"/>
          </a:xfrm>
        </p:spPr>
        <p:txBody>
          <a:bodyPr>
            <a:normAutofit/>
          </a:bodyPr>
          <a:lstStyle/>
          <a:p>
            <a:pPr algn="ctr"/>
            <a:r>
              <a:rPr lang="en-JM" sz="5400" b="1" dirty="0" smtClean="0"/>
              <a:t>Videos</a:t>
            </a:r>
            <a:endParaRPr lang="en-JM" sz="54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128" y="258792"/>
            <a:ext cx="7586496" cy="6400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660" y="1613140"/>
            <a:ext cx="3726612" cy="5046452"/>
          </a:xfrm>
        </p:spPr>
        <p:txBody>
          <a:bodyPr/>
          <a:lstStyle/>
          <a:p>
            <a:r>
              <a:rPr lang="en-JM" sz="2800" dirty="0" smtClean="0"/>
              <a:t>According to  Template.NET  a video is the art of integrating audio and visual elements into one form of multimedia, providing the audience with an image that is recorded electronically by a video camera and displayed on a television or device screen </a:t>
            </a:r>
            <a:r>
              <a:rPr lang="en-JM" dirty="0" smtClean="0"/>
              <a:t>. </a:t>
            </a:r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227922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M" b="1" dirty="0" smtClean="0"/>
              <a:t>Use Of Video In The Workplace </a:t>
            </a:r>
            <a:endParaRPr lang="en-JM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32475" y="1846052"/>
            <a:ext cx="5802565" cy="736282"/>
          </a:xfrm>
        </p:spPr>
        <p:txBody>
          <a:bodyPr>
            <a:normAutofit/>
          </a:bodyPr>
          <a:lstStyle/>
          <a:p>
            <a:pPr algn="ctr"/>
            <a:r>
              <a:rPr lang="en-JM" sz="2400" b="1" dirty="0" smtClean="0"/>
              <a:t>Training and On boarding </a:t>
            </a:r>
            <a:endParaRPr lang="en-JM" sz="24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0" y="2582334"/>
            <a:ext cx="6035040" cy="3378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JM" sz="2800" dirty="0" smtClean="0"/>
              <a:t>Companies create instructional videos for new employees, reducing the need for repetitive, reducing the need for repetitive in person sessions </a:t>
            </a:r>
          </a:p>
          <a:p>
            <a:r>
              <a:rPr lang="en-JM" sz="2800" dirty="0" smtClean="0"/>
              <a:t>Example: A hospital produces short videos on infection control protocols for nursing staff</a:t>
            </a:r>
            <a:endParaRPr lang="en-JM"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2400" b="1" dirty="0" smtClean="0"/>
              <a:t>Internal Updates </a:t>
            </a:r>
            <a:endParaRPr lang="en-JM" sz="2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JM" sz="2800" dirty="0" smtClean="0"/>
              <a:t>Leaders share videos messages to explain organizational changes or celebrate achievements</a:t>
            </a:r>
          </a:p>
          <a:p>
            <a:endParaRPr lang="en-JM" sz="2800" dirty="0"/>
          </a:p>
          <a:p>
            <a:r>
              <a:rPr lang="en-JM" sz="2800" dirty="0" smtClean="0"/>
              <a:t>Examples: A CEO records a video update to clarify new strategic goals </a:t>
            </a:r>
            <a:endParaRPr lang="en-JM" sz="2800" dirty="0"/>
          </a:p>
        </p:txBody>
      </p:sp>
    </p:spTree>
    <p:extLst>
      <p:ext uri="{BB962C8B-B14F-4D97-AF65-F5344CB8AC3E}">
        <p14:creationId xmlns:p14="http://schemas.microsoft.com/office/powerpoint/2010/main" val="311214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b="1" dirty="0"/>
              <a:t>Use Of Video In The Workplace </a:t>
            </a:r>
            <a:r>
              <a:rPr lang="en-JM" b="1" dirty="0" err="1" smtClean="0"/>
              <a:t>Con’t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467" y="1846052"/>
            <a:ext cx="5740573" cy="736282"/>
          </a:xfrm>
        </p:spPr>
        <p:txBody>
          <a:bodyPr>
            <a:normAutofit/>
          </a:bodyPr>
          <a:lstStyle/>
          <a:p>
            <a:pPr algn="ctr"/>
            <a:r>
              <a:rPr lang="en-JM" sz="2800" dirty="0" smtClean="0"/>
              <a:t>Knowledge Sharing</a:t>
            </a:r>
            <a:endParaRPr lang="en-JM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468" y="2582334"/>
            <a:ext cx="5740572" cy="3523998"/>
          </a:xfrm>
        </p:spPr>
        <p:txBody>
          <a:bodyPr>
            <a:normAutofit/>
          </a:bodyPr>
          <a:lstStyle/>
          <a:p>
            <a:r>
              <a:rPr lang="en-JM" sz="2800" dirty="0" smtClean="0"/>
              <a:t>Teams record demonstrations or tutorial to explain complex processes</a:t>
            </a:r>
          </a:p>
          <a:p>
            <a:endParaRPr lang="en-JM" sz="2800" dirty="0"/>
          </a:p>
          <a:p>
            <a:r>
              <a:rPr lang="en-JM" sz="2800" dirty="0" smtClean="0"/>
              <a:t>Example: IT staff produces a screen recording video showing how to use new software</a:t>
            </a:r>
            <a:endParaRPr lang="en-JM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JM" sz="2800" dirty="0" smtClean="0"/>
              <a:t>Customer Engagement</a:t>
            </a:r>
            <a:endParaRPr lang="en-JM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2582334"/>
            <a:ext cx="5808765" cy="3378200"/>
          </a:xfrm>
        </p:spPr>
        <p:txBody>
          <a:bodyPr>
            <a:normAutofit/>
          </a:bodyPr>
          <a:lstStyle/>
          <a:p>
            <a:r>
              <a:rPr lang="en-JM" sz="2800" dirty="0" smtClean="0"/>
              <a:t>Companies use videos to explain product or services to clients</a:t>
            </a:r>
          </a:p>
          <a:p>
            <a:endParaRPr lang="en-JM" sz="2800" dirty="0"/>
          </a:p>
          <a:p>
            <a:r>
              <a:rPr lang="en-JM" sz="2800" dirty="0" smtClean="0"/>
              <a:t>Example: A marketing team creates products or demo videos for customers </a:t>
            </a:r>
            <a:endParaRPr lang="en-JM" sz="2800" dirty="0"/>
          </a:p>
        </p:txBody>
      </p:sp>
    </p:spTree>
    <p:extLst>
      <p:ext uri="{BB962C8B-B14F-4D97-AF65-F5344CB8AC3E}">
        <p14:creationId xmlns:p14="http://schemas.microsoft.com/office/powerpoint/2010/main" val="229237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75" y="286604"/>
            <a:ext cx="11701220" cy="968760"/>
          </a:xfrm>
        </p:spPr>
        <p:txBody>
          <a:bodyPr>
            <a:normAutofit/>
          </a:bodyPr>
          <a:lstStyle/>
          <a:p>
            <a:pPr algn="ctr"/>
            <a:r>
              <a:rPr lang="en-JM" b="1" dirty="0" smtClean="0"/>
              <a:t>How Videos Improve Workplace Communication </a:t>
            </a:r>
            <a:endParaRPr lang="en-JM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422423"/>
              </p:ext>
            </p:extLst>
          </p:nvPr>
        </p:nvGraphicFramePr>
        <p:xfrm>
          <a:off x="232474" y="1255364"/>
          <a:ext cx="11959527" cy="5799145"/>
        </p:xfrm>
        <a:graphic>
          <a:graphicData uri="http://schemas.openxmlformats.org/drawingml/2006/table">
            <a:tbl>
              <a:tblPr/>
              <a:tblGrid>
                <a:gridCol w="3986509"/>
                <a:gridCol w="3986509"/>
                <a:gridCol w="3986509"/>
              </a:tblGrid>
              <a:tr h="512991">
                <a:tc>
                  <a:txBody>
                    <a:bodyPr/>
                    <a:lstStyle/>
                    <a:p>
                      <a:r>
                        <a:rPr lang="en-JM" sz="2400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2400"/>
                        <a:t>Communication 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JM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96476">
                <a:tc>
                  <a:txBody>
                    <a:bodyPr/>
                    <a:lstStyle/>
                    <a:p>
                      <a:r>
                        <a:rPr lang="en-JM" sz="2400" b="1"/>
                        <a:t>Visual Clarity</a:t>
                      </a:r>
                      <a:endParaRPr lang="en-JM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Complex ideas are easier to understand when shown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 training video demonstrates step-by-step safety procedures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96476">
                <a:tc>
                  <a:txBody>
                    <a:bodyPr/>
                    <a:lstStyle/>
                    <a:p>
                      <a:r>
                        <a:rPr lang="en-JM" sz="2400" b="1"/>
                        <a:t>Consistency</a:t>
                      </a:r>
                      <a:endParaRPr lang="en-JM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Everyone receives the same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Onboarding videos ensure all new hires learn the same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7734">
                <a:tc>
                  <a:txBody>
                    <a:bodyPr/>
                    <a:lstStyle/>
                    <a:p>
                      <a:r>
                        <a:rPr lang="en-JM" sz="2400" b="1"/>
                        <a:t>Engagement</a:t>
                      </a:r>
                      <a:endParaRPr lang="en-JM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Videos capture attention better than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 motivational video from leadership inspires 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7734">
                <a:tc>
                  <a:txBody>
                    <a:bodyPr/>
                    <a:lstStyle/>
                    <a:p>
                      <a:r>
                        <a:rPr lang="en-JM" sz="2400" b="1"/>
                        <a:t>Accessibility</a:t>
                      </a:r>
                      <a:endParaRPr lang="en-JM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Employees can rewatch videos anytime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Staff revisit recorded tutorials when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7734">
                <a:tc>
                  <a:txBody>
                    <a:bodyPr/>
                    <a:lstStyle/>
                    <a:p>
                      <a:r>
                        <a:rPr lang="en-JM" sz="2400" b="1"/>
                        <a:t>Transparency</a:t>
                      </a:r>
                      <a:endParaRPr lang="en-JM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Leaders communicate directly and openly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Video updates reduce rumors and misinterpretation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84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References 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hlinkClick r:id="rId2"/>
              </a:rPr>
              <a:t>Theknowledgeacademy</a:t>
            </a:r>
            <a:r>
              <a:rPr lang="en-US" dirty="0" smtClean="0">
                <a:hlinkClick r:id="rId2"/>
              </a:rPr>
              <a:t>, </a:t>
            </a:r>
            <a:r>
              <a:rPr lang="en-US" b="1" dirty="0"/>
              <a:t>What is Digital Communication: Explained with </a:t>
            </a:r>
            <a:r>
              <a:rPr lang="en-US" b="1" dirty="0" smtClean="0"/>
              <a:t>Examples</a:t>
            </a:r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Digital </a:t>
            </a:r>
            <a:r>
              <a:rPr lang="en-US" dirty="0">
                <a:hlinkClick r:id="rId2"/>
              </a:rPr>
              <a:t>Communication: Definition, Examples and its </a:t>
            </a:r>
            <a:r>
              <a:rPr lang="en-US" dirty="0" smtClean="0">
                <a:hlinkClick r:id="rId2"/>
              </a:rPr>
              <a:t>Types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Template.net, Video Definition and Meaning. February 27, 2026. </a:t>
            </a:r>
            <a:r>
              <a:rPr lang="en-US" dirty="0">
                <a:hlinkClick r:id="rId3"/>
              </a:rPr>
              <a:t>Video - What Is a Video? Definition, Types, </a:t>
            </a:r>
            <a:r>
              <a:rPr lang="en-US" dirty="0" smtClean="0">
                <a:hlinkClick r:id="rId3"/>
              </a:rPr>
              <a:t>Uses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LaunchNotes</a:t>
            </a:r>
            <a:r>
              <a:rPr lang="en-US" dirty="0" smtClean="0"/>
              <a:t>, Issues Tracking, June 2026</a:t>
            </a:r>
          </a:p>
          <a:p>
            <a:pPr marL="0" indent="0">
              <a:buNone/>
            </a:pPr>
            <a:r>
              <a:rPr lang="en-US" dirty="0" smtClean="0">
                <a:hlinkClick r:id="rId4"/>
              </a:rPr>
              <a:t>Issue </a:t>
            </a:r>
            <a:r>
              <a:rPr lang="en-US" dirty="0">
                <a:hlinkClick r:id="rId4"/>
              </a:rPr>
              <a:t>Tracking: Definition, Examples, and Applications | </a:t>
            </a:r>
            <a:r>
              <a:rPr lang="en-US" dirty="0" err="1" smtClean="0">
                <a:hlinkClick r:id="rId4"/>
              </a:rPr>
              <a:t>LaunchNotes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JM" dirty="0" err="1" smtClean="0"/>
              <a:t>TechTarget</a:t>
            </a:r>
            <a:r>
              <a:rPr lang="en-JM" dirty="0" smtClean="0"/>
              <a:t>, What is social networking and how does it works?</a:t>
            </a:r>
          </a:p>
          <a:p>
            <a:pPr marL="0" indent="0">
              <a:buNone/>
            </a:pPr>
            <a:r>
              <a:rPr lang="en-JM" dirty="0" err="1"/>
              <a:t>By</a:t>
            </a:r>
            <a:r>
              <a:rPr lang="en-JM" dirty="0" err="1">
                <a:hlinkClick r:id="rId5"/>
              </a:rPr>
              <a:t>Katie</a:t>
            </a:r>
            <a:r>
              <a:rPr lang="en-JM" dirty="0">
                <a:hlinkClick r:id="rId5"/>
              </a:rPr>
              <a:t> Terrell </a:t>
            </a:r>
            <a:r>
              <a:rPr lang="en-JM" dirty="0" smtClean="0">
                <a:hlinkClick r:id="rId5"/>
              </a:rPr>
              <a:t>Hanna</a:t>
            </a:r>
            <a:r>
              <a:rPr lang="en-JM" dirty="0" smtClean="0"/>
              <a:t>, January </a:t>
            </a:r>
          </a:p>
          <a:p>
            <a:pPr marL="0" indent="0">
              <a:buNone/>
            </a:pPr>
            <a:r>
              <a:rPr lang="en-US" dirty="0">
                <a:hlinkClick r:id="rId6"/>
              </a:rPr>
              <a:t>What is social networking and </a:t>
            </a:r>
            <a:r>
              <a:rPr lang="en-US" dirty="0" smtClean="0">
                <a:hlinkClick r:id="rId6"/>
              </a:rPr>
              <a:t>,2025how </a:t>
            </a:r>
            <a:r>
              <a:rPr lang="en-US" dirty="0">
                <a:hlinkClick r:id="rId6"/>
              </a:rPr>
              <a:t>does it work? | Definition from </a:t>
            </a:r>
            <a:r>
              <a:rPr lang="en-US" dirty="0" err="1">
                <a:hlinkClick r:id="rId6"/>
              </a:rPr>
              <a:t>TechTarget</a:t>
            </a:r>
            <a:endParaRPr lang="en-JM" dirty="0" smtClean="0"/>
          </a:p>
        </p:txBody>
      </p:sp>
    </p:spTree>
    <p:extLst>
      <p:ext uri="{BB962C8B-B14F-4D97-AF65-F5344CB8AC3E}">
        <p14:creationId xmlns:p14="http://schemas.microsoft.com/office/powerpoint/2010/main" val="109707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1740</TotalTime>
  <Words>1073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Algerian</vt:lpstr>
      <vt:lpstr>Calibri</vt:lpstr>
      <vt:lpstr>Calibri Light</vt:lpstr>
      <vt:lpstr>Wingdings</vt:lpstr>
      <vt:lpstr>Retrospect</vt:lpstr>
      <vt:lpstr>PowerPoint Presentation</vt:lpstr>
      <vt:lpstr>What Is Digital Communication? </vt:lpstr>
      <vt:lpstr>PowerPoint Presentation</vt:lpstr>
      <vt:lpstr>PowerPoint Presentation</vt:lpstr>
      <vt:lpstr>Social Network/ Networking</vt:lpstr>
      <vt:lpstr> Social Networking Con’t</vt:lpstr>
      <vt:lpstr> Social Networking Con’t</vt:lpstr>
      <vt:lpstr>Use Of Tools In The Organisation  Social Networking</vt:lpstr>
      <vt:lpstr>Use Of Tools In The Organisation  Social Networking</vt:lpstr>
      <vt:lpstr>How Social Networking Improve Workplace</vt:lpstr>
      <vt:lpstr>Issue Tracking Software </vt:lpstr>
      <vt:lpstr>Use Of Issue Tracking Software In the Workplace </vt:lpstr>
      <vt:lpstr>Use Of Issue Tracking Software In the Workplace Con’t</vt:lpstr>
      <vt:lpstr>Improves Tracking Software Improves Workplace Communication  </vt:lpstr>
      <vt:lpstr>Popular Issue Tracking Tools </vt:lpstr>
      <vt:lpstr>Videos</vt:lpstr>
      <vt:lpstr>Use Of Video In The Workplace </vt:lpstr>
      <vt:lpstr>Use Of Video In The Workplace Con’t</vt:lpstr>
      <vt:lpstr>How Videos Improve Workplace Communication </vt:lpstr>
      <vt:lpstr>References </vt:lpstr>
    </vt:vector>
  </TitlesOfParts>
  <Company>Office07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29</cp:revision>
  <dcterms:created xsi:type="dcterms:W3CDTF">2026-06-26T12:56:48Z</dcterms:created>
  <dcterms:modified xsi:type="dcterms:W3CDTF">2026-06-27T17:57:47Z</dcterms:modified>
</cp:coreProperties>
</file>